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e4bb847cd3_0_3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e4bb847cd3_0_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e4bb848ad0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e4bb848ad0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e4bb848ad0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e4bb848ad0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e4bb848ad0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e4bb848ad0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e4bb848ad0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e4bb848ad0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4bb848ad0_0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4bb848ad0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e4bb848ad0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e4bb848ad0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e4bb848ad0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e4bb848ad0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e4bb848ad0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e4bb848ad0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e4bb848ad0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e4bb848ad0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e4bb848ad0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2e4bb848ad0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900">
                <a:latin typeface="Arial"/>
                <a:ea typeface="Arial"/>
                <a:cs typeface="Arial"/>
                <a:sym typeface="Arial"/>
              </a:rPr>
              <a:t>Model USDA</a:t>
            </a:r>
            <a:endParaRPr sz="4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latin typeface="Arial"/>
                <a:ea typeface="Arial"/>
                <a:cs typeface="Arial"/>
                <a:sym typeface="Arial"/>
              </a:rPr>
              <a:t>Scenario A: Healthy &amp; sustainable Dietary Guidelines</a:t>
            </a:r>
            <a:endParaRPr i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4384650" y="0"/>
            <a:ext cx="4759500" cy="21723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2"/>
                </a:solidFill>
              </a:rPr>
              <a:t>DRAFTING SCENARIO A’S FINAL DELIVERABLE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The DGA Workgroup will u</a:t>
            </a:r>
            <a:r>
              <a:rPr lang="en" sz="800">
                <a:solidFill>
                  <a:schemeClr val="dk2"/>
                </a:solidFill>
              </a:rPr>
              <a:t>se this slide deck template to:</a:t>
            </a:r>
            <a:endParaRPr sz="800">
              <a:solidFill>
                <a:schemeClr val="dk2"/>
              </a:solidFill>
            </a:endParaRPr>
          </a:p>
          <a:p>
            <a:pPr indent="-279400" lvl="0" marL="457200" rtl="0" algn="l"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800"/>
              <a:buAutoNum type="arabicParenR"/>
            </a:pPr>
            <a:r>
              <a:rPr b="1" lang="en" sz="800">
                <a:solidFill>
                  <a:schemeClr val="dk2"/>
                </a:solidFill>
              </a:rPr>
              <a:t>Produce recommendation drafts </a:t>
            </a:r>
            <a:r>
              <a:rPr lang="en" sz="800">
                <a:solidFill>
                  <a:schemeClr val="dk2"/>
                </a:solidFill>
              </a:rPr>
              <a:t>– that will be presented to stakeholders and edited based on feedback</a:t>
            </a:r>
            <a:endParaRPr sz="800">
              <a:solidFill>
                <a:schemeClr val="dk2"/>
              </a:solidFill>
            </a:endParaRPr>
          </a:p>
          <a:p>
            <a:pPr indent="-279400" lvl="0" marL="457200" rtl="0" algn="l"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800"/>
              <a:buAutoNum type="arabicParenR"/>
            </a:pPr>
            <a:r>
              <a:rPr b="1" lang="en" sz="800">
                <a:solidFill>
                  <a:schemeClr val="dk2"/>
                </a:solidFill>
              </a:rPr>
              <a:t>Produce the final recommendation </a:t>
            </a:r>
            <a:r>
              <a:rPr lang="en" sz="800">
                <a:solidFill>
                  <a:schemeClr val="dk2"/>
                </a:solidFill>
              </a:rPr>
              <a:t>– that will be submitted to the final decision makers (Secs of Ag and HHS)</a:t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Parameters</a:t>
            </a:r>
            <a:r>
              <a:rPr lang="en" sz="800">
                <a:solidFill>
                  <a:schemeClr val="dk2"/>
                </a:solidFill>
              </a:rPr>
              <a:t>:</a:t>
            </a:r>
            <a:endParaRPr sz="800">
              <a:solidFill>
                <a:schemeClr val="dk2"/>
              </a:solidFill>
            </a:endParaRPr>
          </a:p>
          <a:p>
            <a:pPr indent="-279400" lvl="0" marL="457200" rtl="0" algn="l"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800"/>
              <a:buChar char="●"/>
            </a:pPr>
            <a:r>
              <a:rPr b="1" lang="en" sz="800">
                <a:solidFill>
                  <a:schemeClr val="dk2"/>
                </a:solidFill>
              </a:rPr>
              <a:t>Work on one (1) copy </a:t>
            </a:r>
            <a:r>
              <a:rPr lang="en" sz="800">
                <a:solidFill>
                  <a:schemeClr val="dk2"/>
                </a:solidFill>
              </a:rPr>
              <a:t>– a singular, collaborative slide deck will be presented during drafting presentations and submitted to the decision makers</a:t>
            </a:r>
            <a:endParaRPr b="1" sz="800">
              <a:solidFill>
                <a:schemeClr val="dk2"/>
              </a:solidFill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●"/>
            </a:pPr>
            <a:r>
              <a:rPr b="1" lang="en" sz="800">
                <a:solidFill>
                  <a:schemeClr val="dk2"/>
                </a:solidFill>
              </a:rPr>
              <a:t>Highlighted text on each slide</a:t>
            </a:r>
            <a:r>
              <a:rPr lang="en" sz="800">
                <a:solidFill>
                  <a:schemeClr val="dk2"/>
                </a:solidFill>
              </a:rPr>
              <a:t> – are prompts to provide direction for what  the content that should be addressed in that slide</a:t>
            </a:r>
            <a:endParaRPr sz="800">
              <a:solidFill>
                <a:schemeClr val="dk2"/>
              </a:solidFill>
            </a:endParaRPr>
          </a:p>
          <a:p>
            <a:pPr indent="-2794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○"/>
            </a:pPr>
            <a:r>
              <a:rPr i="1" lang="en" sz="800">
                <a:solidFill>
                  <a:schemeClr val="dk2"/>
                </a:solidFill>
              </a:rPr>
              <a:t>Remove the highlights and instructions once complete</a:t>
            </a:r>
            <a:endParaRPr i="1" sz="800">
              <a:solidFill>
                <a:schemeClr val="dk2"/>
              </a:solidFill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●"/>
            </a:pPr>
            <a:r>
              <a:rPr b="1" lang="en" sz="800">
                <a:solidFill>
                  <a:schemeClr val="dk2"/>
                </a:solidFill>
              </a:rPr>
              <a:t>Keep on-slide text succinct</a:t>
            </a:r>
            <a:r>
              <a:rPr lang="en" sz="800">
                <a:solidFill>
                  <a:schemeClr val="dk2"/>
                </a:solidFill>
              </a:rPr>
              <a:t> – Additional details can be narrated in speaker notes, as necessary.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88" name="Google Shape;88;p1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Executive summary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b="1" lang="en" sz="1900">
                <a:latin typeface="Arial"/>
                <a:ea typeface="Arial"/>
                <a:cs typeface="Arial"/>
                <a:sym typeface="Arial"/>
              </a:rPr>
              <a:t>Recommendation: </a:t>
            </a:r>
            <a:r>
              <a:rPr lang="en" sz="1900"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[a one-sentence summary of</a:t>
            </a:r>
            <a:r>
              <a:rPr lang="en" sz="1900"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 the Workgroup’s recommendation.] </a:t>
            </a:r>
            <a:endParaRPr b="1" i="1"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b="1" lang="en" sz="1900">
                <a:latin typeface="Arial"/>
                <a:ea typeface="Arial"/>
                <a:cs typeface="Arial"/>
                <a:sym typeface="Arial"/>
              </a:rPr>
              <a:t>Rationale</a:t>
            </a:r>
            <a:r>
              <a:rPr b="1" lang="en" sz="19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" sz="1900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endParaRPr sz="1900"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○"/>
            </a:pPr>
            <a:r>
              <a:rPr lang="en" sz="1900"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[a brief (one- to two- sentence) summary of the </a:t>
            </a:r>
            <a:r>
              <a:rPr lang="en" sz="1900" u="sng"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most compelling evidence</a:t>
            </a:r>
            <a:r>
              <a:rPr lang="en" sz="1900"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 that informed </a:t>
            </a:r>
            <a:r>
              <a:rPr lang="en" sz="1900"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the Workgroup’s recommendation.]</a:t>
            </a:r>
            <a:endParaRPr sz="1900"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Recommendation &amp; rationale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Recommendation overview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6"/>
          <p:cNvSpPr txBox="1"/>
          <p:nvPr>
            <p:ph idx="1" type="body"/>
          </p:nvPr>
        </p:nvSpPr>
        <p:spPr>
          <a:xfrm>
            <a:off x="727650" y="19704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●"/>
            </a:pPr>
            <a:r>
              <a:rPr lang="en" sz="1900"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[Elaborate on the</a:t>
            </a:r>
            <a:r>
              <a:rPr lang="en" sz="1900"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 Workgroup’s recommendation by describing:</a:t>
            </a:r>
            <a:endParaRPr sz="1900"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○"/>
            </a:pPr>
            <a:r>
              <a:rPr lang="en" sz="1900"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What aspects of sustainability should/should not be included.</a:t>
            </a:r>
            <a:endParaRPr sz="1900"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○"/>
            </a:pPr>
            <a:r>
              <a:rPr lang="en" sz="1900"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What aspects/advice around ultra processed foods should/should not be included. </a:t>
            </a:r>
            <a:endParaRPr sz="1900"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○"/>
            </a:pPr>
            <a:r>
              <a:rPr lang="en" sz="1900"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How this recommendation can be achieved.</a:t>
            </a:r>
            <a:endParaRPr sz="1900"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○"/>
            </a:pPr>
            <a:r>
              <a:rPr lang="en" sz="1900"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How this recommendation aligns with stakeholder input.] </a:t>
            </a:r>
            <a:endParaRPr sz="1900"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Timing considerations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[When should the recommendation be implemented?</a:t>
            </a:r>
            <a:endParaRPr sz="1900"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Should the </a:t>
            </a:r>
            <a:r>
              <a:rPr lang="en" sz="1900"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DGAs continue to be updated every five years? Or, should updates happen more or less frequently if sustainability were to be included?]</a:t>
            </a:r>
            <a:endParaRPr sz="1900"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Key stakeholders to involve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●"/>
            </a:pPr>
            <a:r>
              <a:rPr lang="en" sz="1900"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[E</a:t>
            </a:r>
            <a:r>
              <a:rPr lang="en" sz="1900"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laborate on which </a:t>
            </a:r>
            <a:r>
              <a:rPr lang="en" sz="1900"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stakeholders (federal agencies, public groups, etc.) should be involved in implementation of the Workgroup’s recommendation.</a:t>
            </a:r>
            <a:endParaRPr sz="1900"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○"/>
            </a:pPr>
            <a:r>
              <a:rPr lang="en" sz="1900"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For each, briefly describe the role they will play.</a:t>
            </a:r>
            <a:r>
              <a:rPr lang="en" sz="1900"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]</a:t>
            </a:r>
            <a:endParaRPr b="1" i="1" sz="1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8"/>
          <p:cNvSpPr txBox="1"/>
          <p:nvPr/>
        </p:nvSpPr>
        <p:spPr>
          <a:xfrm>
            <a:off x="4890550" y="0"/>
            <a:ext cx="4253400" cy="17763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2"/>
                </a:solidFill>
              </a:rPr>
              <a:t>INSTRUCTIONS TO STUDENTS:</a:t>
            </a:r>
            <a:endParaRPr b="1"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FEEL FREE TO MAKE THIS SLIDE MORE VISUAL. FOR EXAMPLE, YOU MAY CONSIDER:</a:t>
            </a:r>
            <a:endParaRPr sz="1300">
              <a:solidFill>
                <a:schemeClr val="dk2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-"/>
            </a:pPr>
            <a:r>
              <a:rPr lang="en" sz="1300">
                <a:solidFill>
                  <a:schemeClr val="dk2"/>
                </a:solidFill>
              </a:rPr>
              <a:t>USING AN ORG CHART INSTEAD OF BULLET POINTS.</a:t>
            </a:r>
            <a:endParaRPr sz="1300">
              <a:solidFill>
                <a:schemeClr val="dk2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-"/>
            </a:pPr>
            <a:r>
              <a:rPr lang="en" sz="1300">
                <a:solidFill>
                  <a:schemeClr val="dk2"/>
                </a:solidFill>
              </a:rPr>
              <a:t>ADDING IN LOGOS OR HEADSHOTS OF STAKEHOLDERS WHO SHOULD BE INVOLVED.</a:t>
            </a:r>
            <a:endParaRPr sz="1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Barriers or challenges to consider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●"/>
            </a:pPr>
            <a:r>
              <a:rPr lang="en" sz="1900"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en" sz="1900"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Elaborate on any challenges this recommendation may pose. For example:</a:t>
            </a:r>
            <a:endParaRPr sz="1900"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○"/>
            </a:pPr>
            <a:r>
              <a:rPr lang="en" sz="1900"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Gaps in data.</a:t>
            </a:r>
            <a:endParaRPr sz="1900"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○"/>
            </a:pPr>
            <a:r>
              <a:rPr lang="en" sz="1900"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Cost of </a:t>
            </a:r>
            <a:r>
              <a:rPr lang="en" sz="1900"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implementing.</a:t>
            </a:r>
            <a:endParaRPr sz="1900"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○"/>
            </a:pPr>
            <a:r>
              <a:rPr lang="en" sz="1900"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Stakeholders who may be negatively impacted by recommendation.</a:t>
            </a:r>
            <a:endParaRPr sz="1900"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○"/>
            </a:pPr>
            <a:r>
              <a:rPr lang="en" sz="1900"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Other concerns raised by stakeholders?]</a:t>
            </a:r>
            <a:endParaRPr sz="1900"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Additional considerations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●"/>
            </a:pPr>
            <a:r>
              <a:rPr lang="en" sz="1900"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en" sz="1900"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Elaborate on any other considerations raised by stakeholders. For example:</a:t>
            </a:r>
            <a:endParaRPr sz="1900"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○"/>
            </a:pPr>
            <a:r>
              <a:rPr lang="en" sz="1900"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Are there other topics future DGAs should consider?]</a:t>
            </a:r>
            <a:endParaRPr sz="1900"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Stakeholder input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Stakeholder input: In support of recommendation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●"/>
            </a:pPr>
            <a:r>
              <a:rPr lang="en" sz="1900"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en" sz="1900"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Update this slide to elaborate on stakeholder input that was in favor of the Workgroup’s recommendation. For example:</a:t>
            </a:r>
            <a:endParaRPr sz="1900"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○"/>
            </a:pPr>
            <a:r>
              <a:rPr lang="en" sz="1900"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Which stakeholders supported this recommendation? </a:t>
            </a:r>
            <a:endParaRPr sz="1900"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○"/>
            </a:pPr>
            <a:r>
              <a:rPr lang="en" sz="1900"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What evidence, data, and/or perspective did they provide that was most compelling?</a:t>
            </a:r>
            <a:endParaRPr sz="1900"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○"/>
            </a:pPr>
            <a:r>
              <a:rPr lang="en" sz="1900"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What were their top concerns/priorities?]</a:t>
            </a:r>
            <a:endParaRPr sz="1900"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2"/>
          <p:cNvSpPr txBox="1"/>
          <p:nvPr/>
        </p:nvSpPr>
        <p:spPr>
          <a:xfrm>
            <a:off x="3108900" y="0"/>
            <a:ext cx="6035100" cy="13371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2"/>
                </a:solidFill>
              </a:rPr>
              <a:t>INSTRUCTIONS TO STUDENTS:</a:t>
            </a:r>
            <a:endParaRPr b="1"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FEEL FREE TO MAKE THIS SLIDE MORE VISUAL OR ADD MORE SLIDES IF NECESSARY. FOR EXAMPLE, YOU MAY CONSIDER:</a:t>
            </a:r>
            <a:endParaRPr sz="1300">
              <a:solidFill>
                <a:schemeClr val="dk2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-"/>
            </a:pPr>
            <a:r>
              <a:rPr lang="en" sz="1300">
                <a:solidFill>
                  <a:schemeClr val="dk2"/>
                </a:solidFill>
              </a:rPr>
              <a:t>DROPPING IN LOGOS OF STAKEHOLDER GROUPS.</a:t>
            </a:r>
            <a:endParaRPr sz="1300">
              <a:solidFill>
                <a:schemeClr val="dk2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-"/>
            </a:pPr>
            <a:r>
              <a:rPr lang="en" sz="1300">
                <a:solidFill>
                  <a:schemeClr val="dk2"/>
                </a:solidFill>
              </a:rPr>
              <a:t>USING SPEECH BUBBLES TO CAPTURE POWERFUL QUOTES OR PIECES OF EVIDENCE PROVIDED.</a:t>
            </a:r>
            <a:endParaRPr sz="1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Stakeholder input: Opposed to recommendation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●"/>
            </a:pPr>
            <a:r>
              <a:rPr lang="en" sz="1900"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Update this slide to elaborate on stakeholder input that was opposed to the Workgroup’s recommendation. For example:</a:t>
            </a:r>
            <a:endParaRPr sz="1900"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○"/>
            </a:pPr>
            <a:r>
              <a:rPr lang="en" sz="1900"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Which stakeholders did not support this recommendation? </a:t>
            </a:r>
            <a:endParaRPr sz="1900"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○"/>
            </a:pPr>
            <a:r>
              <a:rPr lang="en" sz="1900"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What evidence, data, and/or perspective did they provide to  make their case?</a:t>
            </a:r>
            <a:endParaRPr sz="1900"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○"/>
            </a:pPr>
            <a:r>
              <a:rPr lang="en" sz="1900"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What were their top concerns/priorities? </a:t>
            </a:r>
            <a:endParaRPr sz="1900"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3"/>
          <p:cNvSpPr txBox="1"/>
          <p:nvPr/>
        </p:nvSpPr>
        <p:spPr>
          <a:xfrm>
            <a:off x="3108900" y="0"/>
            <a:ext cx="6035100" cy="13371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2"/>
                </a:solidFill>
              </a:rPr>
              <a:t>INSTRUCTIONS TO STUDENTS:</a:t>
            </a:r>
            <a:endParaRPr b="1"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FEEL FREE TO MAKE THIS SLIDE MORE VISUAL OR ADD MORE SLIDES IF NECESSARY. FOR EXAMPLE, YOU MAY CONSIDER:</a:t>
            </a:r>
            <a:endParaRPr sz="1300">
              <a:solidFill>
                <a:schemeClr val="dk2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-"/>
            </a:pPr>
            <a:r>
              <a:rPr lang="en" sz="1300">
                <a:solidFill>
                  <a:schemeClr val="dk2"/>
                </a:solidFill>
              </a:rPr>
              <a:t>DROPPING IN LOGOS OF STAKEHOLDER GROUPS.</a:t>
            </a:r>
            <a:endParaRPr sz="1300">
              <a:solidFill>
                <a:schemeClr val="dk2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-"/>
            </a:pPr>
            <a:r>
              <a:rPr lang="en" sz="1300">
                <a:solidFill>
                  <a:schemeClr val="dk2"/>
                </a:solidFill>
              </a:rPr>
              <a:t>USING SPEECH BUBBLES TO CAPTURE POWERFUL QUOTES OR PIECES OF EVIDENCE PROVIDED.</a:t>
            </a:r>
            <a:endParaRPr sz="1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Impactful tools &amp; tactics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●"/>
            </a:pPr>
            <a:r>
              <a:rPr lang="en" sz="1900"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en" sz="1900"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Update this slide to describe the most successful/impactful tools and tactics stakeholders used. Elaborate on:</a:t>
            </a:r>
            <a:endParaRPr sz="1900"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○"/>
            </a:pPr>
            <a:r>
              <a:rPr lang="en" sz="1900"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How each tool/tactic was put into play.</a:t>
            </a:r>
            <a:endParaRPr sz="1900"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○"/>
            </a:pPr>
            <a:r>
              <a:rPr lang="en" sz="1900"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What made it successful?]</a:t>
            </a:r>
            <a:endParaRPr sz="1900"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4"/>
          <p:cNvSpPr txBox="1"/>
          <p:nvPr/>
        </p:nvSpPr>
        <p:spPr>
          <a:xfrm>
            <a:off x="5229000" y="0"/>
            <a:ext cx="3915000" cy="11619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2"/>
                </a:solidFill>
              </a:rPr>
              <a:t>INSTRUCTIONS TO STUDENTS:</a:t>
            </a:r>
            <a:endParaRPr b="1"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FEEL FREE TO MAKE THIS SLIDE MORE VISUAL. FOR EXAMPLE, YOU MAY CONSIDER </a:t>
            </a:r>
            <a:endParaRPr sz="1300">
              <a:solidFill>
                <a:schemeClr val="dk2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-"/>
            </a:pPr>
            <a:r>
              <a:rPr lang="en" sz="1300">
                <a:solidFill>
                  <a:schemeClr val="dk2"/>
                </a:solidFill>
              </a:rPr>
              <a:t>DROPPING IN LOGOS OF STAKEHOLDER COALITIONS THAT FORMED.</a:t>
            </a:r>
            <a:endParaRPr sz="1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